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70" r:id="rId12"/>
    <p:sldId id="269" r:id="rId13"/>
    <p:sldId id="268" r:id="rId14"/>
    <p:sldId id="273" r:id="rId15"/>
    <p:sldId id="274" r:id="rId16"/>
    <p:sldId id="275" r:id="rId17"/>
    <p:sldId id="272" r:id="rId18"/>
  </p:sldIdLst>
  <p:sldSz cx="12192000" cy="6858000"/>
  <p:notesSz cx="6858000" cy="9144000"/>
  <p:embeddedFontLst>
    <p:embeddedFont>
      <p:font typeface="Plus Jakarta Sans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63" autoAdjust="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37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1439D-60C6-4F94-8DF6-19EAF2F17FF1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B50E5-4121-4E22-846F-79A56ACF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92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B50E5-4121-4E22-846F-79A56ACF828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17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1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" y="-31033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562600"/>
            <a:ext cx="10972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56260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2361307"/>
            <a:ext cx="9395379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solidFill>
                  <a:srgbClr val="FFFFFF"/>
                </a:solidFill>
                <a:highlight>
                  <a:srgbClr val="008080"/>
                </a:highlight>
                <a:latin typeface="Plus Jakarta Sans"/>
              </a:rPr>
              <a:t>Bank Direct Marketing Campaign</a:t>
            </a:r>
            <a:r>
              <a:rPr lang="en-US" sz="3900" b="1" i="0" u="none" dirty="0">
                <a:solidFill>
                  <a:srgbClr val="FFFFFF"/>
                </a:solidFill>
                <a:highlight>
                  <a:srgbClr val="008080"/>
                </a:highlight>
                <a:latin typeface="Plus Jakarta Sans"/>
              </a:rPr>
              <a:t> (2025-2026)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323" y="3781113"/>
            <a:ext cx="9816149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Analysis and Prediction of Bank Direct Marketing Campaign Success</a:t>
            </a:r>
            <a:endParaRPr sz="2800" i="0" u="none" dirty="0">
              <a:solidFill>
                <a:schemeClr val="accent5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04979" y="5838825"/>
            <a:ext cx="157742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050" b="0" i="0" u="none" dirty="0">
                <a:solidFill>
                  <a:srgbClr val="F8FAFC"/>
                </a:solidFill>
                <a:latin typeface="Plus Jakarta Sans"/>
              </a:rPr>
              <a:t>      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Honey Stanly</a:t>
            </a:r>
            <a:endParaRPr sz="2000" i="0" u="none" dirty="0">
              <a:solidFill>
                <a:schemeClr val="accent5">
                  <a:lumMod val="75000"/>
                </a:schemeClr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20375A-2D9A-1CB3-E9B1-24ABB679B1F9}"/>
              </a:ext>
            </a:extLst>
          </p:cNvPr>
          <p:cNvSpPr txBox="1"/>
          <p:nvPr/>
        </p:nvSpPr>
        <p:spPr>
          <a:xfrm>
            <a:off x="1038386" y="480447"/>
            <a:ext cx="22029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INTRODUCTION</a:t>
            </a:r>
          </a:p>
          <a:p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5DBC5B-B7A4-1100-ACBD-FF835A7A7B81}"/>
              </a:ext>
            </a:extLst>
          </p:cNvPr>
          <p:cNvSpPr/>
          <p:nvPr/>
        </p:nvSpPr>
        <p:spPr>
          <a:xfrm>
            <a:off x="852407" y="1487837"/>
            <a:ext cx="10182386" cy="4386021"/>
          </a:xfrm>
          <a:prstGeom prst="rect">
            <a:avLst/>
          </a:prstGeom>
          <a:gradFill>
            <a:gsLst>
              <a:gs pos="400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Banks use direct marketing to promote financial products such as term deposits.</a:t>
            </a:r>
            <a:endParaRPr lang="en-IN" sz="20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This project </a:t>
            </a:r>
            <a:r>
              <a:rPr lang="en-IN" sz="2000" b="1" dirty="0" err="1">
                <a:solidFill>
                  <a:srgbClr val="002060"/>
                </a:solidFill>
              </a:rPr>
              <a:t>analyzes</a:t>
            </a:r>
            <a:r>
              <a:rPr lang="en-IN" sz="2000" b="1" dirty="0">
                <a:solidFill>
                  <a:srgbClr val="002060"/>
                </a:solidFill>
              </a:rPr>
              <a:t> 41,188 customer records across 20 columns.</a:t>
            </a:r>
            <a:endParaRPr lang="en-IN" sz="20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The analysis examines customer profiles, campaign performance, and subscription outcomes.</a:t>
            </a:r>
            <a:endParaRPr lang="en-IN" sz="20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Python, Pandas, NumPy, Matplotlib, Seaborn, and </a:t>
            </a:r>
            <a:r>
              <a:rPr lang="en-IN" sz="2000" b="1" dirty="0" err="1">
                <a:solidFill>
                  <a:srgbClr val="002060"/>
                </a:solidFill>
              </a:rPr>
              <a:t>Plotly</a:t>
            </a:r>
            <a:r>
              <a:rPr lang="en-IN" sz="2000" b="1" dirty="0">
                <a:solidFill>
                  <a:srgbClr val="002060"/>
                </a:solidFill>
              </a:rPr>
              <a:t> were used for analysis and visualization.</a:t>
            </a:r>
            <a:endParaRPr lang="en-IN" sz="20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Data cleaning, EDA, </a:t>
            </a:r>
            <a:r>
              <a:rPr lang="en-IN" sz="2000" b="1" dirty="0" err="1">
                <a:solidFill>
                  <a:srgbClr val="002060"/>
                </a:solidFill>
              </a:rPr>
              <a:t>GroupBy</a:t>
            </a:r>
            <a:r>
              <a:rPr lang="en-IN" sz="2000" b="1" dirty="0">
                <a:solidFill>
                  <a:srgbClr val="002060"/>
                </a:solidFill>
              </a:rPr>
              <a:t>, pivot tables, and correlation analysis were applied.</a:t>
            </a:r>
            <a:endParaRPr lang="en-IN" sz="20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The main goal is to identify meaningful patterns and improve future marketing campaign effectiveness</a:t>
            </a:r>
            <a:r>
              <a:rPr lang="en-IN" b="1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327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3581DC-8B2A-C57C-CE3A-D8B12E8104E1}"/>
              </a:ext>
            </a:extLst>
          </p:cNvPr>
          <p:cNvSpPr txBox="1"/>
          <p:nvPr/>
        </p:nvSpPr>
        <p:spPr>
          <a:xfrm>
            <a:off x="634180" y="443568"/>
            <a:ext cx="2999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DATASET   OVERVIEW</a:t>
            </a:r>
          </a:p>
          <a:p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DC2191-D577-33BD-9348-708D0D905CAF}"/>
              </a:ext>
            </a:extLst>
          </p:cNvPr>
          <p:cNvSpPr/>
          <p:nvPr/>
        </p:nvSpPr>
        <p:spPr>
          <a:xfrm>
            <a:off x="445204" y="1407926"/>
            <a:ext cx="11301592" cy="4042148"/>
          </a:xfrm>
          <a:prstGeom prst="rect">
            <a:avLst/>
          </a:prstGeom>
          <a:gradFill>
            <a:gsLst>
              <a:gs pos="14000">
                <a:schemeClr val="accent1">
                  <a:tint val="100000"/>
                  <a:shade val="100000"/>
                  <a:satMod val="130000"/>
                </a:schemeClr>
              </a:gs>
              <a:gs pos="89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Dataset                    __ Bank Direct Marketing Campaigns dataset containing customer and marketing campaign      information.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Total Records          __ 41,188 customer records.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Total Columns         __ 20 columns.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Target Variable        __ Term Deposit Subscription — indicates whether the customer subscribed to the bank's term-deposit product.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Customer Features __ Age, job, marital status, education, and loan-related information.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Campaign Features __ Contact method, campaign month, day of the week, and number of contacts.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Previous Campaign __ Previous contacts and previous campaign results.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Economic Features __ Employment variation rate, consumer price index, consumer confidence index, Euribor rate, and number of employees.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Data Type                 __ Combination of numerical and categorical variables.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Data Source             __ Kaggle.</a:t>
            </a:r>
          </a:p>
        </p:txBody>
      </p:sp>
    </p:spTree>
    <p:extLst>
      <p:ext uri="{BB962C8B-B14F-4D97-AF65-F5344CB8AC3E}">
        <p14:creationId xmlns:p14="http://schemas.microsoft.com/office/powerpoint/2010/main" val="4198641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667375"/>
            <a:ext cx="10972800" cy="733425"/>
          </a:xfrm>
          <a:prstGeom prst="roundRect">
            <a:avLst>
              <a:gd name="adj" fmla="val 10389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857" y="2188771"/>
            <a:ext cx="3457575" cy="2817033"/>
          </a:xfrm>
          <a:prstGeom prst="roundRect">
            <a:avLst>
              <a:gd name="adj" fmla="val 503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259508"/>
            <a:ext cx="3505200" cy="2746296"/>
          </a:xfrm>
          <a:prstGeom prst="roundRect">
            <a:avLst>
              <a:gd name="adj" fmla="val 503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188771"/>
            <a:ext cx="3505200" cy="2746296"/>
          </a:xfrm>
          <a:prstGeom prst="roundRect">
            <a:avLst>
              <a:gd name="adj" fmla="val 503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91425" y="5857875"/>
            <a:ext cx="3686175" cy="352425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flipH="1">
            <a:off x="563881" y="2259508"/>
            <a:ext cx="45719" cy="2746296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2259508"/>
            <a:ext cx="66675" cy="274629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77200" y="2259508"/>
            <a:ext cx="57150" cy="2675559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564308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825" y="2564308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25" y="2564308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2678608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125" y="2678608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9637" y="2678608"/>
            <a:ext cx="21907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19815"/>
            <a:ext cx="1203535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i="0" u="none" dirty="0">
                <a:solidFill>
                  <a:srgbClr val="008C95"/>
                </a:solidFill>
                <a:latin typeface="Plus Jakarta Sans"/>
              </a:rPr>
              <a:t> Project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3B67"/>
                </a:solidFill>
                <a:latin typeface="Plus Jakarta Sans"/>
              </a:rPr>
              <a:t>Executive Summary &amp;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24550"/>
            <a:ext cx="216495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i="0" u="none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Target Variable 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3825" y="5915025"/>
            <a:ext cx="34766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8C95"/>
                </a:solidFill>
                <a:latin typeface="Plus Jakarta Sans"/>
              </a:rPr>
              <a:t>Term Deposit Subscription (yes / no)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3173908"/>
            <a:ext cx="170001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Dataset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601069"/>
            <a:ext cx="2943225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 err="1">
                <a:solidFill>
                  <a:schemeClr val="accent5">
                    <a:lumMod val="75000"/>
                  </a:schemeClr>
                </a:solidFill>
              </a:rPr>
              <a:t>Analyzing</a:t>
            </a:r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 41,188 customer records across 20 distinct features to understand customer </a:t>
            </a:r>
            <a:r>
              <a:rPr lang="en-IN" sz="1600" b="1" dirty="0" err="1">
                <a:solidFill>
                  <a:schemeClr val="accent5">
                    <a:lumMod val="75000"/>
                  </a:schemeClr>
                </a:solidFill>
              </a:rPr>
              <a:t>behavior</a:t>
            </a:r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 and campaign outcomes</a:t>
            </a:r>
            <a:r>
              <a:rPr lang="en-IN" sz="1600" dirty="0"/>
              <a:t>.</a:t>
            </a:r>
            <a:endParaRPr sz="1600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95825" y="3173908"/>
            <a:ext cx="171572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Primary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9156" y="3743146"/>
            <a:ext cx="301942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Identify key factors that improve campaign effectiveness and customer response.</a:t>
            </a:r>
            <a:r>
              <a:rPr sz="1600" b="1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9625" y="3173908"/>
            <a:ext cx="189468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Feature Dimensions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8187" y="3597287"/>
            <a:ext cx="2943225" cy="1274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The analysis covers customer details, campaign activities, previous contacts, and economic factors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 algn="l">
              <a:lnSpc>
                <a:spcPts val="1889"/>
              </a:lnSpc>
            </a:pPr>
            <a:endParaRPr sz="1350" b="0" i="0" u="none" dirty="0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11871"/>
            <a:ext cx="4779764" cy="1609725"/>
          </a:xfrm>
          <a:prstGeom prst="roundRect">
            <a:avLst>
              <a:gd name="adj" fmla="val 7100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12096"/>
            <a:ext cx="4636889" cy="1972628"/>
          </a:xfrm>
          <a:prstGeom prst="roundRect">
            <a:avLst>
              <a:gd name="adj" fmla="val 7865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46564" y="2462212"/>
            <a:ext cx="5735835" cy="1200150"/>
          </a:xfrm>
          <a:prstGeom prst="roundRect">
            <a:avLst>
              <a:gd name="adj" fmla="val 9523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46564" y="3814762"/>
            <a:ext cx="5735835" cy="1200150"/>
          </a:xfrm>
          <a:prstGeom prst="roundRect">
            <a:avLst>
              <a:gd name="adj" fmla="val 9523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2504" y="253421"/>
            <a:ext cx="110680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u="none" dirty="0">
                <a:solidFill>
                  <a:srgbClr val="0070C0"/>
                </a:solidFill>
                <a:latin typeface="Plus Jakarta Sans"/>
              </a:rPr>
              <a:t> </a:t>
            </a:r>
            <a:r>
              <a:rPr lang="en-IN" sz="2000" b="1" dirty="0">
                <a:solidFill>
                  <a:srgbClr val="0070C0"/>
                </a:solidFill>
              </a:rPr>
              <a:t>Overall Subscription Rate</a:t>
            </a:r>
          </a:p>
          <a:p>
            <a:pPr algn="l"/>
            <a:endParaRPr sz="1600" i="0" u="none" dirty="0">
              <a:solidFill>
                <a:srgbClr val="008C95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363715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Customer Response Analysis</a:t>
            </a:r>
            <a:endParaRPr sz="2400" b="1" i="0" u="none" dirty="0">
              <a:solidFill>
                <a:srgbClr val="002060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5825" y="2388096"/>
            <a:ext cx="211429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070C0"/>
                </a:solidFill>
                <a:latin typeface="Plus Jakarta Sans"/>
              </a:rPr>
              <a:t>TOTAL DATASET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626221"/>
            <a:ext cx="5284142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73B67"/>
                </a:solidFill>
                <a:latin typeface="Plus Jakarta Sans"/>
              </a:rPr>
              <a:t>41,188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245346"/>
            <a:ext cx="270343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Total Customer Contact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50221"/>
            <a:ext cx="223881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70C0"/>
                </a:solidFill>
                <a:latin typeface="Plus Jakarta Sans"/>
              </a:rPr>
              <a:t>Strategic</a:t>
            </a:r>
            <a:r>
              <a:rPr lang="en-US" sz="2000" b="1" i="0" u="none" dirty="0">
                <a:solidFill>
                  <a:srgbClr val="0070C0"/>
                </a:solidFill>
                <a:latin typeface="Plus Jakarta Sans"/>
              </a:rPr>
              <a:t> </a:t>
            </a:r>
            <a:r>
              <a:rPr sz="2000" b="1" i="0" u="none" dirty="0">
                <a:solidFill>
                  <a:srgbClr val="0070C0"/>
                </a:solidFill>
                <a:latin typeface="Plus Jakarta Sans"/>
              </a:rPr>
              <a:t> Implication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740" y="4599413"/>
            <a:ext cx="4398764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Most customers did not subscribe, so targeted marketing is more effective than contacting everyone equally</a:t>
            </a:r>
            <a:r>
              <a:rPr b="1" i="0" u="none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6950" y="2809875"/>
            <a:ext cx="14287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150" b="1" i="0" u="none" dirty="0">
                <a:solidFill>
                  <a:schemeClr val="accent5"/>
                </a:solidFill>
                <a:latin typeface="Plus Jakarta Sans"/>
              </a:rPr>
              <a:t>88.7%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4162425"/>
            <a:ext cx="1140619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150" b="1" i="0" u="none" dirty="0">
                <a:solidFill>
                  <a:schemeClr val="tx2"/>
                </a:solidFill>
                <a:latin typeface="Plus Jakarta Sans"/>
              </a:rPr>
              <a:t>11.3%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3263" y="2728912"/>
            <a:ext cx="163243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chemeClr val="accent5"/>
                </a:solidFill>
                <a:latin typeface="Plus Jakarta Sans"/>
              </a:rPr>
              <a:t>No Subscription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6529" y="2946677"/>
            <a:ext cx="1136530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chemeClr val="accent5"/>
                </a:solidFill>
                <a:latin typeface="Plus Jakarta Sans"/>
              </a:rPr>
              <a:t>~36,548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3263" y="4081462"/>
            <a:ext cx="114061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i="0" u="none" dirty="0">
                <a:solidFill>
                  <a:schemeClr val="tx2"/>
                </a:solidFill>
                <a:latin typeface="Plus Jakarta Sans"/>
              </a:rPr>
              <a:t>Subscribed</a:t>
            </a:r>
            <a:r>
              <a:rPr sz="1600" i="0" u="none" dirty="0">
                <a:solidFill>
                  <a:srgbClr val="CCFBF1"/>
                </a:solidFill>
                <a:latin typeface="Plus Jakarta Sans"/>
              </a:rPr>
              <a:t> </a:t>
            </a:r>
            <a:endParaRPr sz="1200" b="1" i="0" u="none" dirty="0">
              <a:solidFill>
                <a:srgbClr val="CCFBF1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13264" y="4319587"/>
            <a:ext cx="961802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chemeClr val="tx2"/>
                </a:solidFill>
                <a:latin typeface="Plus Jakarta Sans"/>
              </a:rPr>
              <a:t>~4,640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85913"/>
            <a:ext cx="6421487" cy="4190999"/>
          </a:xfrm>
          <a:prstGeom prst="roundRect">
            <a:avLst>
              <a:gd name="adj" fmla="val 2857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35887" y="1647825"/>
            <a:ext cx="4246512" cy="1418629"/>
          </a:xfrm>
          <a:prstGeom prst="roundRect">
            <a:avLst>
              <a:gd name="adj" fmla="val 813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35887" y="3190875"/>
            <a:ext cx="4246512" cy="1171575"/>
          </a:xfrm>
          <a:prstGeom prst="roundRect">
            <a:avLst>
              <a:gd name="adj" fmla="val 813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44072" y="4504664"/>
            <a:ext cx="4246512" cy="1171575"/>
          </a:xfrm>
          <a:prstGeom prst="roundRect">
            <a:avLst>
              <a:gd name="adj" fmla="val 813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28268" y="1743456"/>
            <a:ext cx="45719" cy="1295019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35887" y="3190875"/>
            <a:ext cx="38100" cy="1171575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50026" y="4503128"/>
            <a:ext cx="38100" cy="1171575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919" y="5130254"/>
            <a:ext cx="665559" cy="141833"/>
          </a:xfrm>
          <a:prstGeom prst="roundRect">
            <a:avLst>
              <a:gd name="adj" fmla="val 26862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953517" y="3569047"/>
            <a:ext cx="665559" cy="1703040"/>
          </a:xfrm>
          <a:prstGeom prst="roundRect">
            <a:avLst>
              <a:gd name="adj" fmla="val 5724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76116" y="2909887"/>
            <a:ext cx="665559" cy="2362200"/>
          </a:xfrm>
          <a:prstGeom prst="roundRect">
            <a:avLst>
              <a:gd name="adj" fmla="val 5724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998714" y="4136826"/>
            <a:ext cx="665559" cy="1135260"/>
          </a:xfrm>
          <a:prstGeom prst="roundRect">
            <a:avLst>
              <a:gd name="adj" fmla="val 5724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1312" y="4818012"/>
            <a:ext cx="665559" cy="454074"/>
          </a:xfrm>
          <a:prstGeom prst="roundRect">
            <a:avLst>
              <a:gd name="adj" fmla="val 839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43910" y="5045124"/>
            <a:ext cx="665559" cy="226962"/>
          </a:xfrm>
          <a:prstGeom prst="roundRect">
            <a:avLst>
              <a:gd name="adj" fmla="val 16786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600" y="381000"/>
            <a:ext cx="110680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70C0"/>
                </a:solidFill>
                <a:latin typeface="Plus Jakarta Sans"/>
              </a:rPr>
              <a:t> Demographics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00075"/>
            <a:ext cx="374117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Customer </a:t>
            </a:r>
            <a:r>
              <a:rPr lang="en-US" sz="2400" b="1" i="0" u="none" dirty="0">
                <a:solidFill>
                  <a:srgbClr val="173B67"/>
                </a:solidFill>
                <a:latin typeface="Plus Jakarta Sans"/>
              </a:rPr>
              <a:t> </a:t>
            </a:r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Age </a:t>
            </a:r>
            <a:r>
              <a:rPr lang="en-US" sz="2400" b="1" i="0" u="none" dirty="0">
                <a:solidFill>
                  <a:srgbClr val="173B67"/>
                </a:solidFill>
                <a:latin typeface="Plus Jakarta Sans"/>
              </a:rPr>
              <a:t> </a:t>
            </a:r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014537"/>
            <a:ext cx="390459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chemeClr val="tx2"/>
                </a:solidFill>
                <a:latin typeface="Plus Jakarta Sans"/>
              </a:rPr>
              <a:t>VOLUME SHARE BY AGE COHORT (%)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1883" y="1824422"/>
            <a:ext cx="197631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Customer Age Range</a:t>
            </a:r>
            <a:endParaRPr b="1" i="0" u="none" dirty="0">
              <a:solidFill>
                <a:schemeClr val="tx2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97813" y="2286740"/>
            <a:ext cx="384646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Target audience ranges from late teens (17) to seniors over 90 years old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2587" y="3419475"/>
            <a:ext cx="216982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Highest Concentration</a:t>
            </a:r>
            <a:r>
              <a:rPr lang="en-IN" sz="1400" dirty="0"/>
              <a:t>.</a:t>
            </a:r>
            <a:endParaRPr sz="1350" b="1" i="0" u="none" dirty="0">
              <a:solidFill>
                <a:srgbClr val="173B67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02587" y="3695700"/>
            <a:ext cx="384646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Primary outreach volume is heavily concentrated between ages 30 and 45.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9803" y="4504664"/>
            <a:ext cx="23119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Age Distribution Pattern</a:t>
            </a:r>
            <a:endParaRPr b="1" i="0" u="none" dirty="0">
              <a:solidFill>
                <a:srgbClr val="002060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02587" y="4874881"/>
            <a:ext cx="384646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Customer contacts decrease significantly among age groups 60 and above</a:t>
            </a:r>
            <a:endParaRPr b="1" i="0" u="none" dirty="0">
              <a:solidFill>
                <a:schemeClr val="accent5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54162" y="4901654"/>
            <a:ext cx="5048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9874" y="5348287"/>
            <a:ext cx="533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&lt;25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3897" y="3340447"/>
            <a:ext cx="590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28%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76747" y="5348287"/>
            <a:ext cx="7048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25–34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6495" y="2681287"/>
            <a:ext cx="590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8C95"/>
                </a:solidFill>
                <a:latin typeface="Plus Jakarta Sans"/>
              </a:rPr>
              <a:t>42%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9820" y="5348287"/>
            <a:ext cx="723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8C95"/>
                </a:solidFill>
                <a:latin typeface="Plus Jakarta Sans"/>
              </a:rPr>
              <a:t>35–44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8618" y="3908226"/>
            <a:ext cx="571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18%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7181" y="5348287"/>
            <a:ext cx="714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45–54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4554" y="4589412"/>
            <a:ext cx="5048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4541" y="5348287"/>
            <a:ext cx="7048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55–64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2389" y="4816524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2864" y="5348287"/>
            <a:ext cx="533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65+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90762"/>
            <a:ext cx="6236791" cy="3343122"/>
          </a:xfrm>
          <a:prstGeom prst="roundRect">
            <a:avLst>
              <a:gd name="adj" fmla="val 384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51191" y="2127051"/>
            <a:ext cx="4431208" cy="1184671"/>
          </a:xfrm>
          <a:prstGeom prst="roundRect">
            <a:avLst>
              <a:gd name="adj" fmla="val 9648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51191" y="3464123"/>
            <a:ext cx="4431208" cy="1962150"/>
          </a:xfrm>
          <a:prstGeom prst="roundRect">
            <a:avLst>
              <a:gd name="adj" fmla="val 5825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3081337"/>
            <a:ext cx="5760541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538537"/>
            <a:ext cx="5760541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3995737"/>
            <a:ext cx="5760541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4452937"/>
            <a:ext cx="5760541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7725" y="4910137"/>
            <a:ext cx="5760541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7725" y="3081337"/>
            <a:ext cx="5760541" cy="11430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7725" y="3538537"/>
            <a:ext cx="5069234" cy="11430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7725" y="3995737"/>
            <a:ext cx="3744217" cy="1143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7725" y="4452937"/>
            <a:ext cx="2188964" cy="1143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7725" y="4910137"/>
            <a:ext cx="1440060" cy="1143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091" y="337780"/>
            <a:ext cx="110680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Customer Profile Analysis</a:t>
            </a:r>
            <a:endParaRPr sz="2400" b="1" i="0" u="none" dirty="0">
              <a:solidFill>
                <a:srgbClr val="0070C0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1091" y="828675"/>
            <a:ext cx="586250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Customer Distribution by Job &amp; Marital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486139"/>
            <a:ext cx="352179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070C0"/>
                </a:solidFill>
                <a:latin typeface="Plus Jakarta Sans"/>
              </a:rPr>
              <a:t>TOP OCCUPATIONS BY CONTACT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791" y="2355651"/>
            <a:ext cx="226196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i="0" u="none" dirty="0">
                <a:solidFill>
                  <a:srgbClr val="0070C0"/>
                </a:solidFill>
                <a:latin typeface="Plus Jakarta Sans"/>
              </a:rPr>
              <a:t>JOB CONCENTRATION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791" y="2603301"/>
            <a:ext cx="4069258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b="0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Highest contact volume concentrated in </a:t>
            </a:r>
            <a:r>
              <a:rPr sz="160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Admin</a:t>
            </a:r>
            <a:r>
              <a:rPr sz="1600" b="0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, </a:t>
            </a:r>
            <a:r>
              <a:rPr sz="160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Blue-collar</a:t>
            </a:r>
            <a:r>
              <a:rPr sz="1600" b="0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, and </a:t>
            </a:r>
            <a:r>
              <a:rPr sz="160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Technician</a:t>
            </a:r>
            <a:r>
              <a:rPr sz="1600" b="0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 roles.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9316" y="3702248"/>
            <a:ext cx="231614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i="0" u="none" dirty="0">
                <a:solidFill>
                  <a:srgbClr val="0070C0"/>
                </a:solidFill>
                <a:latin typeface="Plus Jakarta Sans"/>
              </a:rPr>
              <a:t>Marital Status 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871787"/>
            <a:ext cx="164429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73B67"/>
                </a:solidFill>
                <a:latin typeface="Plus Jakarta Sans"/>
              </a:rPr>
              <a:t>Admin /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0116" y="2871787"/>
            <a:ext cx="723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10,422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341807"/>
            <a:ext cx="79900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73B67"/>
                </a:solidFill>
                <a:latin typeface="Plus Jakarta Sans"/>
              </a:rPr>
              <a:t>Blue-collar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791" y="3328987"/>
            <a:ext cx="6572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9,254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786187"/>
            <a:ext cx="990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73B67"/>
                </a:solidFill>
                <a:latin typeface="Plus Jakarta Sans"/>
              </a:rPr>
              <a:t>Technician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6316" y="3786187"/>
            <a:ext cx="647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6,743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4243387"/>
            <a:ext cx="60753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73B67"/>
                </a:solidFill>
                <a:latin typeface="Plus Jakarta Sans"/>
              </a:rPr>
              <a:t>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6316" y="4243387"/>
            <a:ext cx="647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3,969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4700587"/>
            <a:ext cx="128612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73B67"/>
                </a:solidFill>
                <a:latin typeface="Plus Jakarta Sans"/>
              </a:rPr>
              <a:t>Retired / Student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791" y="4700587"/>
            <a:ext cx="6572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2,594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9316" y="4083248"/>
            <a:ext cx="18830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i="0" u="none" dirty="0">
                <a:solidFill>
                  <a:srgbClr val="002060"/>
                </a:solidFill>
                <a:latin typeface="Plus Jakarta Sans"/>
              </a:rPr>
              <a:t>Married (Dominant)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4175" y="4073723"/>
            <a:ext cx="75822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i="0" u="none" dirty="0">
                <a:solidFill>
                  <a:srgbClr val="002060"/>
                </a:solidFill>
                <a:latin typeface="Plus Jakarta Sans"/>
              </a:rPr>
              <a:t>~24,928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9588" y="4521398"/>
            <a:ext cx="55784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i="0" u="none" dirty="0">
                <a:solidFill>
                  <a:srgbClr val="002060"/>
                </a:solidFill>
                <a:latin typeface="Plus Jakarta Sans"/>
              </a:rPr>
              <a:t>Single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29900" y="4511873"/>
            <a:ext cx="75822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i="0" u="none" dirty="0">
                <a:solidFill>
                  <a:srgbClr val="002060"/>
                </a:solidFill>
                <a:latin typeface="Plus Jakarta Sans"/>
              </a:rPr>
              <a:t>~11,568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9316" y="4959548"/>
            <a:ext cx="83125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i="0" u="none" dirty="0">
                <a:solidFill>
                  <a:srgbClr val="002060"/>
                </a:solidFill>
                <a:latin typeface="Plus Jakarta Sans"/>
              </a:rPr>
              <a:t>Divorced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07851" y="4939905"/>
            <a:ext cx="64120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i="0" u="none" dirty="0">
                <a:solidFill>
                  <a:srgbClr val="002060"/>
                </a:solidFill>
                <a:latin typeface="Plus Jakarta Sans"/>
              </a:rPr>
              <a:t>~4,612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90750"/>
            <a:ext cx="6421487" cy="3171825"/>
          </a:xfrm>
          <a:prstGeom prst="roundRect">
            <a:avLst>
              <a:gd name="adj" fmla="val 3603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35887" y="1616393"/>
            <a:ext cx="4246512" cy="1409700"/>
          </a:xfrm>
          <a:prstGeom prst="roundRect">
            <a:avLst>
              <a:gd name="adj" fmla="val 675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35887" y="1638300"/>
            <a:ext cx="38100" cy="140970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35887" y="3200400"/>
            <a:ext cx="4246512" cy="1409700"/>
          </a:xfrm>
          <a:prstGeom prst="roundRect">
            <a:avLst>
              <a:gd name="adj" fmla="val 675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35887" y="3200400"/>
            <a:ext cx="38100" cy="14097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35887" y="4762500"/>
            <a:ext cx="4246512" cy="1152525"/>
          </a:xfrm>
          <a:prstGeom prst="roundRect">
            <a:avLst>
              <a:gd name="adj" fmla="val 8264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2971800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7725" y="3476625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725" y="3981450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7725" y="4486275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7725" y="4991100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35887" y="4762500"/>
            <a:ext cx="38100" cy="1152525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7725" y="2971800"/>
            <a:ext cx="5945237" cy="13335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7725" y="3476625"/>
            <a:ext cx="4637186" cy="13335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7725" y="3981450"/>
            <a:ext cx="2972544" cy="13335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7725" y="4486275"/>
            <a:ext cx="2556420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7725" y="4991100"/>
            <a:ext cx="3150840" cy="1333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942" y="249435"/>
            <a:ext cx="110680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70C0"/>
                </a:solidFill>
                <a:latin typeface="Plus Jakarta Sans"/>
              </a:rPr>
              <a:t>Demographics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18767"/>
            <a:ext cx="332039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Education  Level  Analysis</a:t>
            </a:r>
            <a:r>
              <a:rPr lang="en-IN" sz="2400" dirty="0"/>
              <a:t>.</a:t>
            </a:r>
            <a:endParaRPr sz="2250" b="1" i="0" u="none" dirty="0">
              <a:solidFill>
                <a:srgbClr val="173B67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7725" y="2428875"/>
            <a:ext cx="391190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2060"/>
                </a:solidFill>
                <a:latin typeface="Plus Jakarta Sans"/>
              </a:rPr>
              <a:t>CONTACTS REACHED BY EDUCATION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3537" y="1729935"/>
            <a:ext cx="388456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2060"/>
                </a:solidFill>
                <a:latin typeface="Plus Jakarta Sans"/>
              </a:rPr>
              <a:t>Largest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0938" y="3305545"/>
            <a:ext cx="388456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2060"/>
                </a:solidFill>
                <a:latin typeface="Plus Jakarta Sans"/>
              </a:rPr>
              <a:t>Secondary Segment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2587" y="2105025"/>
            <a:ext cx="248875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70C0"/>
                </a:solidFill>
                <a:latin typeface="Plus Jakarta Sans"/>
              </a:rPr>
              <a:t>University Degree Holders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2587" y="2381250"/>
            <a:ext cx="384646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This is the largest customer group, with more than 12,000 customers contacted</a:t>
            </a:r>
            <a:endParaRPr sz="1600" b="1" i="0" u="none" dirty="0">
              <a:solidFill>
                <a:schemeClr val="accent5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02587" y="3667125"/>
            <a:ext cx="211711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70C0"/>
                </a:solidFill>
                <a:latin typeface="Plus Jakarta Sans"/>
              </a:rPr>
              <a:t>High School 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2587" y="3943350"/>
            <a:ext cx="384646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This is the second-largest customer group, with around 9,500 customers contacted</a:t>
            </a:r>
            <a:endParaRPr sz="1600" b="1" i="0" u="none" dirty="0">
              <a:solidFill>
                <a:schemeClr val="accent5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83537" y="4895135"/>
            <a:ext cx="269227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2060"/>
                </a:solidFill>
                <a:latin typeface="Plus Jakarta Sans"/>
              </a:rPr>
              <a:t>Vocational &amp; Basic Layers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2587" y="5248275"/>
            <a:ext cx="384646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Followed by basic education tiers (9y, 4y, 6y) and professional courses.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2752725"/>
            <a:ext cx="151772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73B67"/>
                </a:solidFill>
                <a:latin typeface="Plus Jakarta Sans"/>
              </a:rPr>
              <a:t>University Degree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3387" y="2752725"/>
            <a:ext cx="6953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12,168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" y="3257550"/>
            <a:ext cx="100027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73B67"/>
                </a:solidFill>
                <a:latin typeface="Plus Jakarta Sans"/>
              </a:rPr>
              <a:t>High School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0537" y="3257550"/>
            <a:ext cx="6381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9,515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" y="3762375"/>
            <a:ext cx="168180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73B67"/>
                </a:solidFill>
                <a:latin typeface="Plus Jakarta Sans"/>
              </a:rPr>
              <a:t>Basic Education (9y</a:t>
            </a:r>
            <a:r>
              <a:rPr sz="1125" b="1" i="0" u="none" dirty="0">
                <a:solidFill>
                  <a:srgbClr val="173B67"/>
                </a:solidFill>
                <a:latin typeface="Plus Jakarta Sans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862" y="3762375"/>
            <a:ext cx="7048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6,045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4267200"/>
            <a:ext cx="167295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73B67"/>
                </a:solidFill>
                <a:latin typeface="Plus Jakarta Sans"/>
              </a:rPr>
              <a:t>Professional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2912" y="4267200"/>
            <a:ext cx="685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5,243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725" y="4772025"/>
            <a:ext cx="206492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73B67"/>
                </a:solidFill>
                <a:latin typeface="Plus Jakarta Sans"/>
              </a:rPr>
              <a:t>Basic Education (4y / 6y</a:t>
            </a:r>
            <a:r>
              <a:rPr sz="1125" b="1" i="0" u="none" dirty="0">
                <a:solidFill>
                  <a:srgbClr val="173B67"/>
                </a:solidFill>
                <a:latin typeface="Plus Jakarta Sans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1962" y="4772025"/>
            <a:ext cx="666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6,476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19325"/>
            <a:ext cx="6421487" cy="3114675"/>
          </a:xfrm>
          <a:prstGeom prst="roundRect">
            <a:avLst>
              <a:gd name="adj" fmla="val 3669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35887" y="1683246"/>
            <a:ext cx="4246512" cy="1472207"/>
          </a:xfrm>
          <a:prstGeom prst="roundRect">
            <a:avLst>
              <a:gd name="adj" fmla="val 7763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35887" y="3307853"/>
            <a:ext cx="4246512" cy="1095375"/>
          </a:xfrm>
          <a:prstGeom prst="roundRect">
            <a:avLst>
              <a:gd name="adj" fmla="val 8695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35887" y="4555628"/>
            <a:ext cx="4246512" cy="1314450"/>
          </a:xfrm>
          <a:prstGeom prst="roundRect">
            <a:avLst>
              <a:gd name="adj" fmla="val 724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019425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3505200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3990975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7725" y="4476750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725" y="4962525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7725" y="3019425"/>
            <a:ext cx="5945237" cy="13335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7725" y="3505200"/>
            <a:ext cx="4756100" cy="13335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7725" y="3990975"/>
            <a:ext cx="2496889" cy="13335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7725" y="4476750"/>
            <a:ext cx="2021234" cy="13335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7725" y="4962525"/>
            <a:ext cx="1307901" cy="1333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" y="381000"/>
            <a:ext cx="110680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70C0"/>
                </a:solidFill>
                <a:latin typeface="Plus Jakarta Sans"/>
              </a:rPr>
              <a:t>Performance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098" y="969407"/>
            <a:ext cx="521758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Conversion Performance by Job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457450"/>
            <a:ext cx="335752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2060"/>
                </a:solidFill>
                <a:latin typeface="Plus Jakarta Sans"/>
              </a:rPr>
              <a:t>SUBSCRIPTION RATE (%) BY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8932" y="1761636"/>
            <a:ext cx="320998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766E"/>
                </a:solidFill>
                <a:latin typeface="Plus Jakarta Sans"/>
              </a:rPr>
              <a:t>High-Converting Niche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5020" y="2321670"/>
            <a:ext cx="386551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0070C0"/>
                </a:solidFill>
              </a:rPr>
              <a:t>Students (~31%) and retired customers (~25%) have higher subscription rates than the overall average</a:t>
            </a:r>
            <a:r>
              <a:rPr sz="1600" b="0" i="0" u="none" dirty="0">
                <a:solidFill>
                  <a:srgbClr val="0070C0"/>
                </a:solidFill>
                <a:latin typeface="Plus Jakarta San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3512" y="3307853"/>
            <a:ext cx="342213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Main Conversion Groups</a:t>
            </a:r>
            <a:endParaRPr sz="2000" b="1" i="0" u="none" dirty="0">
              <a:solidFill>
                <a:srgbClr val="002060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35912" y="3765053"/>
            <a:ext cx="394171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070C0"/>
                </a:solidFill>
                <a:latin typeface="Plus Jakarta Sans"/>
              </a:rPr>
              <a:t>Admin, Technicians, and Management average moderate conversion rates (10–13%).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4012" y="4641353"/>
            <a:ext cx="316355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High Volume, Low Conversion</a:t>
            </a:r>
            <a:endParaRPr sz="2000" b="1" i="0" u="none" dirty="0">
              <a:solidFill>
                <a:srgbClr val="C00000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35912" y="5012828"/>
            <a:ext cx="394171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>
                <a:solidFill>
                  <a:schemeClr val="accent2"/>
                </a:solidFill>
              </a:rPr>
              <a:t>Blue-collar workers have a low subscription rate (~6.9%) despite being contacted frequently.</a:t>
            </a:r>
            <a:endParaRPr sz="1600" b="1" i="0" u="none" dirty="0">
              <a:solidFill>
                <a:schemeClr val="accent2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7725" y="2800350"/>
            <a:ext cx="75289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Student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287" y="2800350"/>
            <a:ext cx="733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8C95"/>
                </a:solidFill>
                <a:latin typeface="Plus Jakarta Sans"/>
              </a:rPr>
              <a:t>31.4%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3286125"/>
            <a:ext cx="69454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Retired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6237" y="3286125"/>
            <a:ext cx="752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8C95"/>
                </a:solidFill>
                <a:latin typeface="Plus Jakarta Sans"/>
              </a:rPr>
              <a:t>25.2%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3771900"/>
            <a:ext cx="211455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Admin /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2912" y="3771900"/>
            <a:ext cx="685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13.1%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412" y="4229100"/>
            <a:ext cx="99796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Technician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5762" y="4257675"/>
            <a:ext cx="742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10.8%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25" y="4743450"/>
            <a:ext cx="102156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DC2626"/>
                </a:solidFill>
                <a:latin typeface="Plus Jakarta Sans"/>
              </a:rPr>
              <a:t>Blue-collar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1962" y="4743450"/>
            <a:ext cx="666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C2626"/>
                </a:solidFill>
                <a:latin typeface="Plus Jakarta Sans"/>
              </a:rPr>
              <a:t>6.9%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76925"/>
            <a:ext cx="10972800" cy="600075"/>
          </a:xfrm>
          <a:prstGeom prst="roundRect">
            <a:avLst>
              <a:gd name="adj" fmla="val 12698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09837"/>
            <a:ext cx="5334000" cy="1933575"/>
          </a:xfrm>
          <a:prstGeom prst="roundRect">
            <a:avLst>
              <a:gd name="adj" fmla="val 591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381250"/>
            <a:ext cx="5334000" cy="2190750"/>
          </a:xfrm>
          <a:prstGeom prst="roundRect">
            <a:avLst>
              <a:gd name="adj" fmla="val 5217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20100" y="6029325"/>
            <a:ext cx="2895600" cy="295275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3452812"/>
            <a:ext cx="478155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5825" y="4014787"/>
            <a:ext cx="478155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24625" y="3286125"/>
            <a:ext cx="47815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24625" y="3733800"/>
            <a:ext cx="47815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24625" y="4181475"/>
            <a:ext cx="4781550" cy="12343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5825" y="3452812"/>
            <a:ext cx="4781550" cy="1524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5825" y="4014787"/>
            <a:ext cx="1673423" cy="1524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24625" y="3286125"/>
            <a:ext cx="4781550" cy="11430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24625" y="3733800"/>
            <a:ext cx="3920728" cy="11430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24625" y="4181475"/>
            <a:ext cx="2725340" cy="1143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6105525"/>
            <a:ext cx="13335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381000"/>
            <a:ext cx="110680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70C0"/>
                </a:solidFill>
                <a:latin typeface="Plus Jakarta Sans"/>
              </a:rPr>
              <a:t> Channel &amp; Demographic Drivers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102" y="807482"/>
            <a:ext cx="499912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Impact of Education &amp; Contact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6081712"/>
            <a:ext cx="5113387" cy="307777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B0F0"/>
                </a:solidFill>
                <a:latin typeface="Plus Jakarta Sans"/>
              </a:rPr>
              <a:t>Cellular Outreach (14.7%) vs Telephone (5.2%)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8471" y="6038462"/>
            <a:ext cx="373103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Cellular is ~2.8x More Effective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2786062"/>
            <a:ext cx="461382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Conversion Rate by Contact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2527340"/>
            <a:ext cx="451162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2060"/>
                </a:solidFill>
                <a:latin typeface="Plus Jakarta Sans"/>
              </a:rPr>
              <a:t>Conversion Rate by Education 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028" y="3119752"/>
            <a:ext cx="185659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8C95"/>
                </a:solidFill>
                <a:latin typeface="Plus Jakarta Sans"/>
              </a:rPr>
              <a:t>Cellular Outreach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0175" y="3195637"/>
            <a:ext cx="64601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8C95"/>
                </a:solidFill>
                <a:latin typeface="Plus Jakarta Sans"/>
              </a:rPr>
              <a:t>14.7%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794" y="3671118"/>
            <a:ext cx="219797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64748B"/>
                </a:solidFill>
                <a:latin typeface="Plus Jakarta Sans"/>
              </a:rPr>
              <a:t>Telephone (Landline</a:t>
            </a:r>
            <a:r>
              <a:rPr sz="1200" b="1" i="0" u="none" dirty="0">
                <a:solidFill>
                  <a:srgbClr val="64748B"/>
                </a:solidFill>
                <a:latin typeface="Plus Jakarta Sans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757612"/>
            <a:ext cx="51616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64748B"/>
                </a:solidFill>
                <a:latin typeface="Plus Jakarta Sans"/>
              </a:rPr>
              <a:t>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6773" y="2876550"/>
            <a:ext cx="199103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70C0"/>
                </a:solidFill>
                <a:latin typeface="Plus Jakarta Sans"/>
              </a:rPr>
              <a:t>University</a:t>
            </a:r>
            <a:r>
              <a:rPr lang="en-US" b="1" i="0" u="none" dirty="0">
                <a:solidFill>
                  <a:srgbClr val="0070C0"/>
                </a:solidFill>
                <a:latin typeface="Plus Jakarta Sans"/>
              </a:rPr>
              <a:t>  </a:t>
            </a:r>
            <a:r>
              <a:rPr b="1" i="0" u="none" dirty="0">
                <a:solidFill>
                  <a:srgbClr val="0070C0"/>
                </a:solidFill>
                <a:latin typeface="Plus Jakarta Sans"/>
              </a:rPr>
              <a:t> Degree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77550" y="3067050"/>
            <a:ext cx="714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13.7%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4625" y="3514725"/>
            <a:ext cx="187384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70C0"/>
                </a:solidFill>
                <a:latin typeface="Plus Jakarta Sans"/>
              </a:rPr>
              <a:t>Professional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96600" y="3514725"/>
            <a:ext cx="6953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11.3%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3962400"/>
            <a:ext cx="156773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70C0"/>
                </a:solidFill>
                <a:latin typeface="Plus Jakarta Sans"/>
              </a:rPr>
              <a:t>Basic School (9y</a:t>
            </a:r>
            <a:r>
              <a:rPr sz="1125" b="1" i="0" u="none" dirty="0">
                <a:solidFill>
                  <a:srgbClr val="64748B"/>
                </a:solidFill>
                <a:latin typeface="Plus Jakarta Sans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44225" y="3962400"/>
            <a:ext cx="6477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Plus Jakarta Sans"/>
              </a:rPr>
              <a:t>7.8%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888436-F5C9-1036-870A-C4523217D4E8}"/>
              </a:ext>
            </a:extLst>
          </p:cNvPr>
          <p:cNvSpPr txBox="1"/>
          <p:nvPr/>
        </p:nvSpPr>
        <p:spPr>
          <a:xfrm>
            <a:off x="609600" y="1049512"/>
            <a:ext cx="502086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Campaign Contact Frequency Dynamics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D7E32A5D-FDB6-7E1E-196A-B5A3E1E0EE34}"/>
              </a:ext>
            </a:extLst>
          </p:cNvPr>
          <p:cNvSpPr/>
          <p:nvPr/>
        </p:nvSpPr>
        <p:spPr>
          <a:xfrm>
            <a:off x="187569" y="2495228"/>
            <a:ext cx="6453187" cy="3494236"/>
          </a:xfrm>
          <a:prstGeom prst="roundRect">
            <a:avLst>
              <a:gd name="adj" fmla="val 3519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018E44-16D8-8E00-5ED3-7DD15BB4B9F1}"/>
              </a:ext>
            </a:extLst>
          </p:cNvPr>
          <p:cNvSpPr/>
          <p:nvPr/>
        </p:nvSpPr>
        <p:spPr>
          <a:xfrm>
            <a:off x="8198655" y="2678718"/>
            <a:ext cx="3383745" cy="1539393"/>
          </a:xfrm>
          <a:prstGeom prst="rect">
            <a:avLst/>
          </a:prstGeom>
          <a:gradFill>
            <a:gsLst>
              <a:gs pos="13000">
                <a:schemeClr val="tx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FE9F37-EC45-046F-90F4-77A872F690FE}"/>
              </a:ext>
            </a:extLst>
          </p:cNvPr>
          <p:cNvSpPr/>
          <p:nvPr/>
        </p:nvSpPr>
        <p:spPr>
          <a:xfrm>
            <a:off x="8198655" y="4648053"/>
            <a:ext cx="3383745" cy="1569819"/>
          </a:xfrm>
          <a:prstGeom prst="rect">
            <a:avLst/>
          </a:prstGeom>
          <a:gradFill>
            <a:gsLst>
              <a:gs pos="11000">
                <a:srgbClr val="C0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F5973-0A97-52EB-D828-C5BB7953CD5F}"/>
              </a:ext>
            </a:extLst>
          </p:cNvPr>
          <p:cNvSpPr/>
          <p:nvPr/>
        </p:nvSpPr>
        <p:spPr>
          <a:xfrm>
            <a:off x="8198655" y="640128"/>
            <a:ext cx="3383745" cy="1557432"/>
          </a:xfrm>
          <a:prstGeom prst="rect">
            <a:avLst/>
          </a:prstGeom>
          <a:gradFill>
            <a:gsLst>
              <a:gs pos="2000">
                <a:schemeClr val="accent5">
                  <a:lumMod val="5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2D84B1-3F71-A445-11E3-B05E7DF70739}"/>
              </a:ext>
            </a:extLst>
          </p:cNvPr>
          <p:cNvSpPr txBox="1"/>
          <p:nvPr/>
        </p:nvSpPr>
        <p:spPr>
          <a:xfrm>
            <a:off x="609600" y="381000"/>
            <a:ext cx="110680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08C95"/>
                </a:solidFill>
                <a:latin typeface="Plus Jakarta Sans"/>
              </a:rPr>
              <a:t> </a:t>
            </a:r>
            <a:r>
              <a:rPr sz="2400" b="1" i="0" u="none" dirty="0">
                <a:solidFill>
                  <a:srgbClr val="008C95"/>
                </a:solidFill>
                <a:latin typeface="Plus Jakarta Sans"/>
              </a:rPr>
              <a:t>Contact Saturation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4CC89B-0B5B-B91D-A828-4497095D9A14}"/>
              </a:ext>
            </a:extLst>
          </p:cNvPr>
          <p:cNvSpPr txBox="1"/>
          <p:nvPr/>
        </p:nvSpPr>
        <p:spPr>
          <a:xfrm>
            <a:off x="453938" y="2701445"/>
            <a:ext cx="509536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Subscription Probability by Call Attempt</a:t>
            </a:r>
          </a:p>
        </p:txBody>
      </p: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652E5FA6-320F-8D5E-EDBA-16F48476AD8D}"/>
              </a:ext>
            </a:extLst>
          </p:cNvPr>
          <p:cNvSpPr/>
          <p:nvPr/>
        </p:nvSpPr>
        <p:spPr>
          <a:xfrm>
            <a:off x="512786" y="3606856"/>
            <a:ext cx="1305669" cy="1833049"/>
          </a:xfrm>
          <a:prstGeom prst="roundRect">
            <a:avLst>
              <a:gd name="adj" fmla="val 4377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E0527262-2105-A15F-D8A6-B79ACB3C21E8}"/>
              </a:ext>
            </a:extLst>
          </p:cNvPr>
          <p:cNvSpPr/>
          <p:nvPr/>
        </p:nvSpPr>
        <p:spPr>
          <a:xfrm>
            <a:off x="2725575" y="4073888"/>
            <a:ext cx="1305669" cy="1366017"/>
          </a:xfrm>
          <a:prstGeom prst="roundRect">
            <a:avLst>
              <a:gd name="adj" fmla="val 4424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9">
            <a:extLst>
              <a:ext uri="{FF2B5EF4-FFF2-40B4-BE49-F238E27FC236}">
                <a16:creationId xmlns:a16="http://schemas.microsoft.com/office/drawing/2014/main" id="{EFA82881-8516-D80E-C5FE-85C54F7E543D}"/>
              </a:ext>
            </a:extLst>
          </p:cNvPr>
          <p:cNvSpPr/>
          <p:nvPr/>
        </p:nvSpPr>
        <p:spPr>
          <a:xfrm>
            <a:off x="4779368" y="4788976"/>
            <a:ext cx="1305669" cy="650929"/>
          </a:xfrm>
          <a:prstGeom prst="roundRect">
            <a:avLst>
              <a:gd name="adj" fmla="val 10619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79C616-4FCC-0BB4-5654-4E2D93703179}"/>
              </a:ext>
            </a:extLst>
          </p:cNvPr>
          <p:cNvSpPr txBox="1"/>
          <p:nvPr/>
        </p:nvSpPr>
        <p:spPr>
          <a:xfrm>
            <a:off x="5077916" y="4255889"/>
            <a:ext cx="51616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DC2626"/>
                </a:solidFill>
                <a:latin typeface="Plus Jakarta Sans"/>
              </a:rPr>
              <a:t>3.8%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62E603-4530-D4B6-82E1-BE6C0F7FB372}"/>
              </a:ext>
            </a:extLst>
          </p:cNvPr>
          <p:cNvSpPr txBox="1"/>
          <p:nvPr/>
        </p:nvSpPr>
        <p:spPr>
          <a:xfrm>
            <a:off x="3119852" y="3633335"/>
            <a:ext cx="51616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173B67"/>
                </a:solidFill>
                <a:latin typeface="Plus Jakarta Sans"/>
              </a:rPr>
              <a:t>9.4%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3BEF6E-C780-653F-AA76-BD2D670B8B38}"/>
              </a:ext>
            </a:extLst>
          </p:cNvPr>
          <p:cNvSpPr txBox="1"/>
          <p:nvPr/>
        </p:nvSpPr>
        <p:spPr>
          <a:xfrm>
            <a:off x="919803" y="3260228"/>
            <a:ext cx="61875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8C95"/>
                </a:solidFill>
                <a:latin typeface="Plus Jakarta Sans"/>
              </a:rPr>
              <a:t>13</a:t>
            </a:r>
            <a:r>
              <a:rPr sz="1200" b="1" i="0" u="none" dirty="0">
                <a:solidFill>
                  <a:srgbClr val="008C95"/>
                </a:solidFill>
                <a:latin typeface="Plus Jakarta Sans"/>
              </a:rPr>
              <a:t>.</a:t>
            </a:r>
            <a:r>
              <a:rPr sz="2000" b="1" i="0" u="none" dirty="0">
                <a:solidFill>
                  <a:srgbClr val="008C95"/>
                </a:solidFill>
                <a:latin typeface="Plus Jakarta Sans"/>
              </a:rPr>
              <a:t>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2CEE66-482C-472B-1DC3-E435222CE91E}"/>
              </a:ext>
            </a:extLst>
          </p:cNvPr>
          <p:cNvSpPr txBox="1"/>
          <p:nvPr/>
        </p:nvSpPr>
        <p:spPr>
          <a:xfrm>
            <a:off x="676996" y="5634583"/>
            <a:ext cx="88646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173B67"/>
                </a:solidFill>
                <a:latin typeface="Plus Jakarta Sans"/>
              </a:rPr>
              <a:t>1-2 Calls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119C98-0BC8-BDAE-CF1F-4C36044CA5CD}"/>
              </a:ext>
            </a:extLst>
          </p:cNvPr>
          <p:cNvSpPr txBox="1"/>
          <p:nvPr/>
        </p:nvSpPr>
        <p:spPr>
          <a:xfrm>
            <a:off x="3093094" y="5653182"/>
            <a:ext cx="88646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173B67"/>
                </a:solidFill>
                <a:latin typeface="Plus Jakarta Sans"/>
              </a:rPr>
              <a:t>3-4 Calls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58689D-601D-51ED-7B36-13333FF5F317}"/>
              </a:ext>
            </a:extLst>
          </p:cNvPr>
          <p:cNvSpPr txBox="1"/>
          <p:nvPr/>
        </p:nvSpPr>
        <p:spPr>
          <a:xfrm>
            <a:off x="5194033" y="5634583"/>
            <a:ext cx="80631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DC2626"/>
                </a:solidFill>
                <a:latin typeface="Plus Jakarta Sans"/>
              </a:rPr>
              <a:t>5+ Calls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9D757A-8C54-97D3-E5A5-A87862A31C9F}"/>
              </a:ext>
            </a:extLst>
          </p:cNvPr>
          <p:cNvSpPr txBox="1"/>
          <p:nvPr/>
        </p:nvSpPr>
        <p:spPr>
          <a:xfrm>
            <a:off x="8391783" y="722600"/>
            <a:ext cx="249953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chemeClr val="accent4">
                    <a:lumMod val="75000"/>
                  </a:schemeClr>
                </a:solidFill>
                <a:latin typeface="Plus Jakarta Sans"/>
              </a:rPr>
              <a:t>SUBSCRIBERS AVERAGE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445E2D-A77C-C81F-EBE0-9A4FED8D73C6}"/>
              </a:ext>
            </a:extLst>
          </p:cNvPr>
          <p:cNvSpPr txBox="1"/>
          <p:nvPr/>
        </p:nvSpPr>
        <p:spPr>
          <a:xfrm>
            <a:off x="8391783" y="1135111"/>
            <a:ext cx="127438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2060"/>
                </a:solidFill>
                <a:latin typeface="Plus Jakarta Sans"/>
              </a:rPr>
              <a:t>~</a:t>
            </a:r>
            <a:r>
              <a:rPr sz="2400" b="1" i="0" u="none" dirty="0">
                <a:solidFill>
                  <a:srgbClr val="008C95"/>
                </a:solidFill>
                <a:latin typeface="Plus Jakarta Sans"/>
              </a:rPr>
              <a:t> </a:t>
            </a:r>
            <a:r>
              <a:rPr sz="2400" b="1" i="0" u="none" dirty="0">
                <a:solidFill>
                  <a:srgbClr val="002060"/>
                </a:solidFill>
                <a:latin typeface="Plus Jakarta Sans"/>
              </a:rPr>
              <a:t>2.0 Calls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CD9F9C-D707-7E59-0984-20F937663B61}"/>
              </a:ext>
            </a:extLst>
          </p:cNvPr>
          <p:cNvSpPr txBox="1"/>
          <p:nvPr/>
        </p:nvSpPr>
        <p:spPr>
          <a:xfrm>
            <a:off x="8531816" y="1486572"/>
            <a:ext cx="292654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Early Calls Show Higher Conversion Potential</a:t>
            </a:r>
            <a:endParaRPr b="1" i="0" u="none" dirty="0">
              <a:solidFill>
                <a:schemeClr val="accent4">
                  <a:lumMod val="50000"/>
                </a:schemeClr>
              </a:solidFill>
              <a:latin typeface="Plus Jakarta San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02D1A7-7973-4D54-2D73-532BD6E75417}"/>
              </a:ext>
            </a:extLst>
          </p:cNvPr>
          <p:cNvSpPr txBox="1"/>
          <p:nvPr/>
        </p:nvSpPr>
        <p:spPr>
          <a:xfrm>
            <a:off x="8301437" y="2771726"/>
            <a:ext cx="308783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chemeClr val="accent4">
                    <a:lumMod val="75000"/>
                  </a:schemeClr>
                </a:solidFill>
                <a:latin typeface="Plus Jakarta Sans"/>
              </a:rPr>
              <a:t>NON-SUBSCRIBERS AVERAGE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30C8EA-E0CD-AB70-FAD0-5B76346EB40D}"/>
              </a:ext>
            </a:extLst>
          </p:cNvPr>
          <p:cNvSpPr txBox="1"/>
          <p:nvPr/>
        </p:nvSpPr>
        <p:spPr>
          <a:xfrm>
            <a:off x="8391783" y="3048000"/>
            <a:ext cx="127438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2060"/>
                </a:solidFill>
                <a:latin typeface="Plus Jakarta Sans"/>
              </a:rPr>
              <a:t>&gt; 2.6 Calls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5F9E82-D2DA-9B29-3E91-A01C8257CB71}"/>
              </a:ext>
            </a:extLst>
          </p:cNvPr>
          <p:cNvSpPr txBox="1"/>
          <p:nvPr/>
        </p:nvSpPr>
        <p:spPr>
          <a:xfrm>
            <a:off x="8370529" y="3387114"/>
            <a:ext cx="3087833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Conversion rates tend to decrease when the number of calls exceeds 2–3 attempts</a:t>
            </a:r>
            <a:r>
              <a:rPr lang="en-IN" b="1" dirty="0">
                <a:solidFill>
                  <a:srgbClr val="00B0F0"/>
                </a:solidFill>
              </a:rPr>
              <a:t>.</a:t>
            </a:r>
            <a:endParaRPr b="1" i="0" u="none" dirty="0">
              <a:solidFill>
                <a:srgbClr val="00B0F0"/>
              </a:solidFill>
              <a:latin typeface="Plus Jakarta San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9F6A32-3965-4E08-E38D-10A279FE1B9E}"/>
              </a:ext>
            </a:extLst>
          </p:cNvPr>
          <p:cNvSpPr txBox="1"/>
          <p:nvPr/>
        </p:nvSpPr>
        <p:spPr>
          <a:xfrm>
            <a:off x="8391783" y="4973652"/>
            <a:ext cx="3085841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i="0" u="none" dirty="0">
                <a:solidFill>
                  <a:srgbClr val="002060"/>
                </a:solidFill>
                <a:latin typeface="Plus Jakarta Sans"/>
              </a:rPr>
              <a:t>Takeaway</a:t>
            </a:r>
            <a:r>
              <a:rPr lang="en-US" i="0" u="none" dirty="0">
                <a:solidFill>
                  <a:srgbClr val="002060"/>
                </a:solidFill>
                <a:latin typeface="Plus Jakarta Sans"/>
              </a:rPr>
              <a:t> </a:t>
            </a:r>
            <a:r>
              <a:rPr i="0" u="none" dirty="0">
                <a:solidFill>
                  <a:srgbClr val="002060"/>
                </a:solidFill>
                <a:latin typeface="Plus Jakarta Sans"/>
              </a:rPr>
              <a:t>: </a:t>
            </a:r>
            <a:r>
              <a:rPr lang="en-US" i="0" u="none" dirty="0">
                <a:solidFill>
                  <a:srgbClr val="002060"/>
                </a:solidFill>
                <a:latin typeface="Plus Jakarta Sans"/>
              </a:rPr>
              <a:t> </a:t>
            </a:r>
            <a:r>
              <a:rPr lang="en-IN" dirty="0">
                <a:solidFill>
                  <a:srgbClr val="002060"/>
                </a:solidFill>
              </a:rPr>
              <a:t>Repeated calls may reduce campaign effectiveness and lead to customer dissatisfaction.</a:t>
            </a:r>
            <a:endParaRPr i="0" u="none" dirty="0">
              <a:solidFill>
                <a:srgbClr val="00206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595188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B079C8B0-87D1-5EAC-4E47-74BB64641531}"/>
              </a:ext>
            </a:extLst>
          </p:cNvPr>
          <p:cNvSpPr/>
          <p:nvPr/>
        </p:nvSpPr>
        <p:spPr>
          <a:xfrm>
            <a:off x="609600" y="1612238"/>
            <a:ext cx="6035426" cy="3939430"/>
          </a:xfrm>
          <a:prstGeom prst="roundRect">
            <a:avLst>
              <a:gd name="adj" fmla="val 3658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2D24AE53-7759-DC3A-0D2C-DA38B28F1CAD}"/>
              </a:ext>
            </a:extLst>
          </p:cNvPr>
          <p:cNvSpPr/>
          <p:nvPr/>
        </p:nvSpPr>
        <p:spPr>
          <a:xfrm>
            <a:off x="934045" y="2998396"/>
            <a:ext cx="690413" cy="2057400"/>
          </a:xfrm>
          <a:prstGeom prst="roundRect">
            <a:avLst>
              <a:gd name="adj" fmla="val 5518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D9E89F79-5BFF-31A7-2F3D-B788F6F57129}"/>
              </a:ext>
            </a:extLst>
          </p:cNvPr>
          <p:cNvSpPr/>
          <p:nvPr/>
        </p:nvSpPr>
        <p:spPr>
          <a:xfrm>
            <a:off x="1797843" y="4586287"/>
            <a:ext cx="690413" cy="476250"/>
          </a:xfrm>
          <a:prstGeom prst="roundRect">
            <a:avLst>
              <a:gd name="adj" fmla="val 8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25231294-985B-F7A1-49CD-0F2A351385C1}"/>
              </a:ext>
            </a:extLst>
          </p:cNvPr>
          <p:cNvSpPr/>
          <p:nvPr/>
        </p:nvSpPr>
        <p:spPr>
          <a:xfrm>
            <a:off x="2794220" y="4622006"/>
            <a:ext cx="690413" cy="404812"/>
          </a:xfrm>
          <a:prstGeom prst="roundRect">
            <a:avLst>
              <a:gd name="adj" fmla="val 9411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1E2B37C-C779-66B1-7348-2D08C35D97F9}"/>
              </a:ext>
            </a:extLst>
          </p:cNvPr>
          <p:cNvSpPr/>
          <p:nvPr/>
        </p:nvSpPr>
        <p:spPr>
          <a:xfrm>
            <a:off x="3694685" y="2998396"/>
            <a:ext cx="690413" cy="2024062"/>
          </a:xfrm>
          <a:prstGeom prst="roundRect">
            <a:avLst>
              <a:gd name="adj" fmla="val 5518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59F847A9-5CFC-A54A-7E8D-AD8577487DF5}"/>
              </a:ext>
            </a:extLst>
          </p:cNvPr>
          <p:cNvSpPr/>
          <p:nvPr/>
        </p:nvSpPr>
        <p:spPr>
          <a:xfrm>
            <a:off x="4691062" y="3069833"/>
            <a:ext cx="690413" cy="1952625"/>
          </a:xfrm>
          <a:prstGeom prst="roundRect">
            <a:avLst>
              <a:gd name="adj" fmla="val 5518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865DC16A-147D-A93F-203A-9116757F61C5}"/>
              </a:ext>
            </a:extLst>
          </p:cNvPr>
          <p:cNvSpPr/>
          <p:nvPr/>
        </p:nvSpPr>
        <p:spPr>
          <a:xfrm>
            <a:off x="5630316" y="2965058"/>
            <a:ext cx="690413" cy="2057400"/>
          </a:xfrm>
          <a:prstGeom prst="roundRect">
            <a:avLst>
              <a:gd name="adj" fmla="val 5518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6815EE-9B4C-B489-F058-DF105941E859}"/>
              </a:ext>
            </a:extLst>
          </p:cNvPr>
          <p:cNvSpPr txBox="1"/>
          <p:nvPr/>
        </p:nvSpPr>
        <p:spPr>
          <a:xfrm>
            <a:off x="1160115" y="2624137"/>
            <a:ext cx="4023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51%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1F2EEB-7B62-76DE-86F7-109B6BB7C2FB}"/>
              </a:ext>
            </a:extLst>
          </p:cNvPr>
          <p:cNvSpPr txBox="1"/>
          <p:nvPr/>
        </p:nvSpPr>
        <p:spPr>
          <a:xfrm>
            <a:off x="1075036" y="5098476"/>
            <a:ext cx="39754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Mar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EE5A89-FDF1-1D9D-8659-C39B85BCF818}"/>
              </a:ext>
            </a:extLst>
          </p:cNvPr>
          <p:cNvSpPr txBox="1"/>
          <p:nvPr/>
        </p:nvSpPr>
        <p:spPr>
          <a:xfrm>
            <a:off x="2000716" y="5088202"/>
            <a:ext cx="44124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Plus Jakarta Sans"/>
              </a:rPr>
              <a:t>May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134317-75C6-06A1-AC59-9C06B2C44BF7}"/>
              </a:ext>
            </a:extLst>
          </p:cNvPr>
          <p:cNvSpPr txBox="1"/>
          <p:nvPr/>
        </p:nvSpPr>
        <p:spPr>
          <a:xfrm>
            <a:off x="3036505" y="5085897"/>
            <a:ext cx="2564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Plus Jakarta Sans"/>
              </a:rPr>
              <a:t>Jul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BBA2C6-AC49-B6D7-E301-8091A392BAC3}"/>
              </a:ext>
            </a:extLst>
          </p:cNvPr>
          <p:cNvSpPr txBox="1"/>
          <p:nvPr/>
        </p:nvSpPr>
        <p:spPr>
          <a:xfrm>
            <a:off x="3942072" y="5098476"/>
            <a:ext cx="34785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Sep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268173-3353-10B7-F9B9-37ECD399EAB2}"/>
              </a:ext>
            </a:extLst>
          </p:cNvPr>
          <p:cNvSpPr txBox="1"/>
          <p:nvPr/>
        </p:nvSpPr>
        <p:spPr>
          <a:xfrm>
            <a:off x="4939011" y="5098476"/>
            <a:ext cx="33182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Oct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A50166-7C33-7FA9-6737-99F3C3C3F8A4}"/>
              </a:ext>
            </a:extLst>
          </p:cNvPr>
          <p:cNvSpPr txBox="1"/>
          <p:nvPr/>
        </p:nvSpPr>
        <p:spPr>
          <a:xfrm>
            <a:off x="5894139" y="5098476"/>
            <a:ext cx="50482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Dec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F73836-C116-5B14-C094-F0FB4EF244F3}"/>
              </a:ext>
            </a:extLst>
          </p:cNvPr>
          <p:cNvSpPr txBox="1"/>
          <p:nvPr/>
        </p:nvSpPr>
        <p:spPr>
          <a:xfrm>
            <a:off x="3963590" y="2657475"/>
            <a:ext cx="4023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45%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D39440-1BDF-9CF2-9D16-B92C9E8CC339}"/>
              </a:ext>
            </a:extLst>
          </p:cNvPr>
          <p:cNvSpPr txBox="1"/>
          <p:nvPr/>
        </p:nvSpPr>
        <p:spPr>
          <a:xfrm>
            <a:off x="4898082" y="2728912"/>
            <a:ext cx="4023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44%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C92623-0390-02C3-21D0-1CA33C1E0AE1}"/>
              </a:ext>
            </a:extLst>
          </p:cNvPr>
          <p:cNvSpPr txBox="1"/>
          <p:nvPr/>
        </p:nvSpPr>
        <p:spPr>
          <a:xfrm>
            <a:off x="5842099" y="2624137"/>
            <a:ext cx="4023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49%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2D7709-0EEA-791A-1917-AEB8B2736B6C}"/>
              </a:ext>
            </a:extLst>
          </p:cNvPr>
          <p:cNvSpPr txBox="1"/>
          <p:nvPr/>
        </p:nvSpPr>
        <p:spPr>
          <a:xfrm>
            <a:off x="2108894" y="4205287"/>
            <a:ext cx="4023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Plus Jakarta Sans"/>
              </a:rPr>
              <a:t>11%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083E80-4FB0-B643-13F9-DB27524B5B86}"/>
              </a:ext>
            </a:extLst>
          </p:cNvPr>
          <p:cNvSpPr txBox="1"/>
          <p:nvPr/>
        </p:nvSpPr>
        <p:spPr>
          <a:xfrm>
            <a:off x="3062436" y="4276725"/>
            <a:ext cx="28533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Plus Jakarta Sans"/>
              </a:rPr>
              <a:t>9%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70067C-F7A4-5A8A-7A03-526215835CDB}"/>
              </a:ext>
            </a:extLst>
          </p:cNvPr>
          <p:cNvSpPr txBox="1"/>
          <p:nvPr/>
        </p:nvSpPr>
        <p:spPr>
          <a:xfrm>
            <a:off x="934045" y="1891683"/>
            <a:ext cx="456996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2060"/>
                </a:solidFill>
                <a:latin typeface="Plus Jakarta Sans"/>
              </a:rPr>
              <a:t>SUBSCRIPTION RATE (%) BY MONTH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AB99B4-F65E-DD8B-BB14-423C1078CC3D}"/>
              </a:ext>
            </a:extLst>
          </p:cNvPr>
          <p:cNvSpPr txBox="1"/>
          <p:nvPr/>
        </p:nvSpPr>
        <p:spPr>
          <a:xfrm>
            <a:off x="609600" y="381000"/>
            <a:ext cx="110680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08C95"/>
                </a:solidFill>
                <a:latin typeface="Plus Jakarta Sans"/>
              </a:rPr>
              <a:t> </a:t>
            </a:r>
            <a:r>
              <a:rPr sz="2000" b="1" i="0" u="none" dirty="0">
                <a:solidFill>
                  <a:srgbClr val="008C95"/>
                </a:solidFill>
                <a:latin typeface="Plus Jakarta Sans"/>
              </a:rPr>
              <a:t>External Drivers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BEA19F-9F13-BFB0-4BB4-D25D350FE696}"/>
              </a:ext>
            </a:extLst>
          </p:cNvPr>
          <p:cNvSpPr txBox="1"/>
          <p:nvPr/>
        </p:nvSpPr>
        <p:spPr>
          <a:xfrm>
            <a:off x="442692" y="927497"/>
            <a:ext cx="414908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173B67"/>
                </a:solidFill>
                <a:latin typeface="Plus Jakarta Sans"/>
              </a:rPr>
              <a:t>Economic Indicators &amp; Seasonal Timing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F70B000-ACC7-ED9C-B2B5-6FAC13BCCFF1}"/>
              </a:ext>
            </a:extLst>
          </p:cNvPr>
          <p:cNvSpPr/>
          <p:nvPr/>
        </p:nvSpPr>
        <p:spPr>
          <a:xfrm>
            <a:off x="7839456" y="154984"/>
            <a:ext cx="3909852" cy="19902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1500" b="1" dirty="0">
                <a:solidFill>
                  <a:srgbClr val="002060"/>
                </a:solidFill>
              </a:rPr>
              <a:t>Employment Variation Rate &amp; 3-Month Euribor (Interest Rate):</a:t>
            </a:r>
            <a:r>
              <a:rPr lang="en-IN" sz="1500" dirty="0">
                <a:solidFill>
                  <a:srgbClr val="002060"/>
                </a:solidFill>
              </a:rPr>
              <a:t> </a:t>
            </a:r>
            <a:r>
              <a:rPr lang="en-IN" sz="1500" b="1" dirty="0">
                <a:solidFill>
                  <a:srgbClr val="002060"/>
                </a:solidFill>
              </a:rPr>
              <a:t>Very strong positive correlation (+0.97).</a:t>
            </a:r>
          </a:p>
          <a:p>
            <a:pPr lvl="0"/>
            <a:r>
              <a:rPr lang="en-IN" sz="1500" b="1" dirty="0">
                <a:solidFill>
                  <a:srgbClr val="002060"/>
                </a:solidFill>
              </a:rPr>
              <a:t>Consumer Price Index &amp; 3-Month Euribor (Interest Rate):</a:t>
            </a:r>
            <a:r>
              <a:rPr lang="en-IN" sz="1500" dirty="0">
                <a:solidFill>
                  <a:srgbClr val="002060"/>
                </a:solidFill>
              </a:rPr>
              <a:t> </a:t>
            </a:r>
            <a:r>
              <a:rPr lang="en-IN" sz="1500" b="1" dirty="0">
                <a:solidFill>
                  <a:srgbClr val="002060"/>
                </a:solidFill>
              </a:rPr>
              <a:t>Strong positive correlation (+0.69).</a:t>
            </a:r>
            <a:endParaRPr lang="en-IN" sz="1500" dirty="0">
              <a:solidFill>
                <a:srgbClr val="00206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FD2249C-0D40-73A2-F44F-5CD6B5224A1F}"/>
              </a:ext>
            </a:extLst>
          </p:cNvPr>
          <p:cNvSpPr/>
          <p:nvPr/>
        </p:nvSpPr>
        <p:spPr>
          <a:xfrm>
            <a:off x="7895300" y="2594991"/>
            <a:ext cx="3854008" cy="14039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Plus Jakarta Sans"/>
              </a:rPr>
              <a:t>Highest conversion rates occur during March, December, September, and October.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A7B1137-6A70-2980-31B2-C3B19A8A220E}"/>
              </a:ext>
            </a:extLst>
          </p:cNvPr>
          <p:cNvSpPr/>
          <p:nvPr/>
        </p:nvSpPr>
        <p:spPr>
          <a:xfrm>
            <a:off x="7895300" y="4485143"/>
            <a:ext cx="3854008" cy="125939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r>
              <a:rPr lang="en-IN" sz="1600" b="1" dirty="0">
                <a:solidFill>
                  <a:srgbClr val="002060"/>
                </a:solidFill>
              </a:rPr>
              <a:t>Customers’ decisions to invest money in a term deposit are strongly influenced by changes in interest rates in the economy.</a:t>
            </a:r>
            <a:endParaRPr lang="en-US" sz="1600" b="1" dirty="0">
              <a:solidFill>
                <a:srgbClr val="002060"/>
              </a:solidFill>
              <a:latin typeface="Plus Jakarta San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6EE36F-3ACF-CDAD-5136-2B2BE38490C1}"/>
              </a:ext>
            </a:extLst>
          </p:cNvPr>
          <p:cNvSpPr txBox="1"/>
          <p:nvPr/>
        </p:nvSpPr>
        <p:spPr>
          <a:xfrm>
            <a:off x="8059626" y="158205"/>
            <a:ext cx="295046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Key Macro Correlations</a:t>
            </a:r>
            <a:endParaRPr lang="en-US" b="1" i="0" u="none" dirty="0">
              <a:solidFill>
                <a:srgbClr val="173B67"/>
              </a:solidFill>
              <a:latin typeface="Plus Jakarta Sans"/>
            </a:endParaRPr>
          </a:p>
          <a:p>
            <a:pPr algn="l"/>
            <a:endParaRPr b="1" i="0" u="none" dirty="0">
              <a:solidFill>
                <a:srgbClr val="173B67"/>
              </a:solidFill>
              <a:latin typeface="Plus Jakarta San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54C437-CD1D-3117-0F3C-1BEAA131C910}"/>
              </a:ext>
            </a:extLst>
          </p:cNvPr>
          <p:cNvSpPr txBox="1"/>
          <p:nvPr/>
        </p:nvSpPr>
        <p:spPr>
          <a:xfrm>
            <a:off x="8059626" y="2624137"/>
            <a:ext cx="246445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Peak Seasonality Window</a:t>
            </a:r>
          </a:p>
        </p:txBody>
      </p:sp>
    </p:spTree>
    <p:extLst>
      <p:ext uri="{BB962C8B-B14F-4D97-AF65-F5344CB8AC3E}">
        <p14:creationId xmlns:p14="http://schemas.microsoft.com/office/powerpoint/2010/main" val="315147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CECBDA-9049-84B4-2C50-99EAF3141D51}"/>
              </a:ext>
            </a:extLst>
          </p:cNvPr>
          <p:cNvSpPr txBox="1"/>
          <p:nvPr/>
        </p:nvSpPr>
        <p:spPr>
          <a:xfrm>
            <a:off x="548640" y="597408"/>
            <a:ext cx="2572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8C95"/>
                </a:solidFill>
                <a:latin typeface="Plus Jakarta Sans"/>
              </a:rPr>
              <a:t>Recommendations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D919F9-4225-F29D-3642-D3B3570D222C}"/>
              </a:ext>
            </a:extLst>
          </p:cNvPr>
          <p:cNvSpPr txBox="1"/>
          <p:nvPr/>
        </p:nvSpPr>
        <p:spPr>
          <a:xfrm>
            <a:off x="548640" y="1194816"/>
            <a:ext cx="281942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173B67"/>
                </a:solidFill>
                <a:latin typeface="Plus Jakarta Sans"/>
              </a:rPr>
              <a:t>Strategic Action Plan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B6111-046A-4A52-C54E-256DF95EB246}"/>
              </a:ext>
            </a:extLst>
          </p:cNvPr>
          <p:cNvSpPr/>
          <p:nvPr/>
        </p:nvSpPr>
        <p:spPr>
          <a:xfrm>
            <a:off x="270510" y="2001679"/>
            <a:ext cx="4648200" cy="1619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rgbClr val="173B67"/>
              </a:solidFill>
              <a:latin typeface="Plus Jakarta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4A3E0-FAB1-7F47-F3B8-C2C0685139C5}"/>
              </a:ext>
            </a:extLst>
          </p:cNvPr>
          <p:cNvSpPr/>
          <p:nvPr/>
        </p:nvSpPr>
        <p:spPr>
          <a:xfrm>
            <a:off x="6193536" y="2001679"/>
            <a:ext cx="4864608" cy="1619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70C0"/>
                </a:solidFill>
              </a:rPr>
              <a:t>Target High-Value Customer Groups</a:t>
            </a:r>
            <a:endParaRPr lang="en-IN" sz="2000" dirty="0">
              <a:solidFill>
                <a:srgbClr val="0070C0"/>
              </a:solidFill>
            </a:endParaRPr>
          </a:p>
          <a:p>
            <a:r>
              <a:rPr lang="en-IN" b="1" dirty="0">
                <a:solidFill>
                  <a:srgbClr val="002060"/>
                </a:solidFill>
              </a:rPr>
              <a:t>Focus marketing efforts on customer groups with higher subscription rates, especially students (31%) and retired customers (25%).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8B71DD-A043-423E-4D1D-06445F8DCFFC}"/>
              </a:ext>
            </a:extLst>
          </p:cNvPr>
          <p:cNvSpPr/>
          <p:nvPr/>
        </p:nvSpPr>
        <p:spPr>
          <a:xfrm>
            <a:off x="377952" y="4364736"/>
            <a:ext cx="4540758" cy="17167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70C0"/>
                </a:solidFill>
              </a:rPr>
              <a:t>Optimize Contact Frequency</a:t>
            </a:r>
            <a:endParaRPr lang="en-IN" sz="2000" dirty="0">
              <a:solidFill>
                <a:srgbClr val="0070C0"/>
              </a:solidFill>
            </a:endParaRPr>
          </a:p>
          <a:p>
            <a:r>
              <a:rPr lang="en-IN" b="1" dirty="0">
                <a:solidFill>
                  <a:srgbClr val="002060"/>
                </a:solidFill>
              </a:rPr>
              <a:t>Limit repeated calls to 2–3 attempts per customer to improve campaign efficiency and avoid excessive follow-ups.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73558A-97EE-E2F1-4EDA-E98B26ECF2FE}"/>
              </a:ext>
            </a:extLst>
          </p:cNvPr>
          <p:cNvSpPr/>
          <p:nvPr/>
        </p:nvSpPr>
        <p:spPr>
          <a:xfrm>
            <a:off x="6193536" y="4474464"/>
            <a:ext cx="4864608" cy="17167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70C0"/>
                </a:solidFill>
              </a:rPr>
              <a:t>Optimize Campaign Timing</a:t>
            </a:r>
            <a:endParaRPr lang="en-IN" sz="2000" dirty="0">
              <a:solidFill>
                <a:srgbClr val="0070C0"/>
              </a:solidFill>
            </a:endParaRPr>
          </a:p>
          <a:p>
            <a:r>
              <a:rPr lang="en-IN" b="1" dirty="0">
                <a:solidFill>
                  <a:srgbClr val="002060"/>
                </a:solidFill>
              </a:rPr>
              <a:t>Plan marketing campaigns around </a:t>
            </a:r>
            <a:r>
              <a:rPr lang="en-IN" b="1" dirty="0" err="1">
                <a:solidFill>
                  <a:srgbClr val="002060"/>
                </a:solidFill>
              </a:rPr>
              <a:t>favorable</a:t>
            </a:r>
            <a:r>
              <a:rPr lang="en-IN" b="1" dirty="0">
                <a:solidFill>
                  <a:srgbClr val="002060"/>
                </a:solidFill>
              </a:rPr>
              <a:t> Euribor rate cycles and high-performing months to improve customer response.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92627B-D724-3492-6DB8-ECACA0CC931E}"/>
              </a:ext>
            </a:extLst>
          </p:cNvPr>
          <p:cNvSpPr/>
          <p:nvPr/>
        </p:nvSpPr>
        <p:spPr>
          <a:xfrm>
            <a:off x="270510" y="2001679"/>
            <a:ext cx="4648200" cy="1619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70C0"/>
                </a:solidFill>
              </a:rPr>
              <a:t>Improve Communication Channels</a:t>
            </a:r>
          </a:p>
          <a:p>
            <a:r>
              <a:rPr lang="en-IN" b="1" dirty="0">
                <a:solidFill>
                  <a:srgbClr val="002060"/>
                </a:solidFill>
              </a:rPr>
              <a:t>Focus more marketing budget on cellular channels because they achieve higher conversion rates.</a:t>
            </a:r>
          </a:p>
        </p:txBody>
      </p:sp>
    </p:spTree>
    <p:extLst>
      <p:ext uri="{BB962C8B-B14F-4D97-AF65-F5344CB8AC3E}">
        <p14:creationId xmlns:p14="http://schemas.microsoft.com/office/powerpoint/2010/main" val="1497477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135608-5383-EDF8-8521-255D430308A5}"/>
              </a:ext>
            </a:extLst>
          </p:cNvPr>
          <p:cNvSpPr txBox="1"/>
          <p:nvPr/>
        </p:nvSpPr>
        <p:spPr>
          <a:xfrm>
            <a:off x="774915" y="251257"/>
            <a:ext cx="1768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Key Insights</a:t>
            </a:r>
            <a:r>
              <a:rPr lang="en-IN" sz="2400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A1C9BB-65D7-FB9A-66A9-ACFA493F0709}"/>
              </a:ext>
            </a:extLst>
          </p:cNvPr>
          <p:cNvSpPr/>
          <p:nvPr/>
        </p:nvSpPr>
        <p:spPr>
          <a:xfrm>
            <a:off x="1007390" y="1348353"/>
            <a:ext cx="9779429" cy="50430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Overall subscription rate is low — approximately 11.3%.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Previous campaign success is strongly associated with future subscriptions.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Cellular contact shows better conversion than landline contact.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Retired and student customers have higher subscription rates.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Repeated calls generally show lower conversion rates.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May has high contact volume but lower conversion efficiency.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March, September, October, and December show stronger subscription results.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Economic conditions appear to influence subscription patterns.</a:t>
            </a:r>
          </a:p>
          <a:p>
            <a:pPr lvl="0"/>
            <a:endParaRPr lang="en-IN" sz="2000" b="1" dirty="0">
              <a:solidFill>
                <a:srgbClr val="002060"/>
              </a:solidFill>
            </a:endParaRPr>
          </a:p>
          <a:p>
            <a:pPr lvl="0"/>
            <a:r>
              <a:rPr lang="en-IN" sz="2400" b="1" dirty="0">
                <a:solidFill>
                  <a:schemeClr val="bg2"/>
                </a:solidFill>
              </a:rPr>
              <a:t>Takeaway : </a:t>
            </a:r>
            <a:r>
              <a:rPr lang="en-IN" sz="2400" b="1" dirty="0"/>
              <a:t>Smarter targeting, effective communication, and better campaign timing can improve subscription outcomes more than simply increasing customer contacts.</a:t>
            </a:r>
            <a:endParaRPr lang="en-IN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198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F8A259-5674-0F99-3668-E455636D2365}"/>
              </a:ext>
            </a:extLst>
          </p:cNvPr>
          <p:cNvSpPr/>
          <p:nvPr/>
        </p:nvSpPr>
        <p:spPr>
          <a:xfrm>
            <a:off x="521776" y="1394847"/>
            <a:ext cx="10802319" cy="4897465"/>
          </a:xfrm>
          <a:prstGeom prst="rect">
            <a:avLst/>
          </a:prstGeom>
          <a:gradFill>
            <a:gsLst>
              <a:gs pos="300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2060"/>
                </a:solidFill>
              </a:rPr>
              <a:t>1. Reduce Repeated Calls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Limit unnecessary repeated calls and focus on more promising customers.</a:t>
            </a:r>
          </a:p>
          <a:p>
            <a:r>
              <a:rPr lang="en-IN" sz="2000" b="1" dirty="0">
                <a:solidFill>
                  <a:srgbClr val="002060"/>
                </a:solidFill>
              </a:rPr>
              <a:t>2. Focus on Warm Leads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Give priority to customers with a successful previous campaign history.</a:t>
            </a:r>
          </a:p>
          <a:p>
            <a:r>
              <a:rPr lang="en-IN" sz="2000" b="1" dirty="0">
                <a:solidFill>
                  <a:srgbClr val="002060"/>
                </a:solidFill>
              </a:rPr>
              <a:t>3. Use Better Contact Channels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Give greater priority to cellular contacts because they show better results.</a:t>
            </a:r>
          </a:p>
          <a:p>
            <a:r>
              <a:rPr lang="en-IN" sz="2000" b="1" dirty="0">
                <a:solidFill>
                  <a:srgbClr val="002060"/>
                </a:solidFill>
              </a:rPr>
              <a:t>4. Improve Campaign Timing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Focus more resources on months with stronger conversion rates.</a:t>
            </a:r>
          </a:p>
          <a:p>
            <a:r>
              <a:rPr lang="en-IN" sz="2000" b="1" dirty="0">
                <a:solidFill>
                  <a:srgbClr val="002060"/>
                </a:solidFill>
              </a:rPr>
              <a:t>5. Target Customer Groups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Give more attention to customer groups with higher subscription rates, such as retired and student segments.</a:t>
            </a:r>
          </a:p>
          <a:p>
            <a:r>
              <a:rPr lang="en-IN" sz="2000" b="1" dirty="0">
                <a:solidFill>
                  <a:srgbClr val="002060"/>
                </a:solidFill>
              </a:rPr>
              <a:t>6. Reduce Low-Value Calls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Avoid spending too much time on customers who repeatedly show no response.</a:t>
            </a:r>
          </a:p>
          <a:p>
            <a:r>
              <a:rPr lang="en-IN" sz="2000" b="1" dirty="0">
                <a:solidFill>
                  <a:srgbClr val="002060"/>
                </a:solidFill>
              </a:rPr>
              <a:t>7. Monitor Campaign Performance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Track conversion rate, number of calls and cost per successful customer.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135CE-1138-CDAE-89A6-5871AD45603D}"/>
              </a:ext>
            </a:extLst>
          </p:cNvPr>
          <p:cNvSpPr txBox="1"/>
          <p:nvPr/>
        </p:nvSpPr>
        <p:spPr>
          <a:xfrm>
            <a:off x="1038386" y="387458"/>
            <a:ext cx="257230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Recommendations</a:t>
            </a:r>
            <a:endParaRPr lang="en-IN" sz="2400" dirty="0">
              <a:solidFill>
                <a:srgbClr val="00206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28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7F703D-0A1D-595A-13B9-173B287E9C71}"/>
              </a:ext>
            </a:extLst>
          </p:cNvPr>
          <p:cNvSpPr/>
          <p:nvPr/>
        </p:nvSpPr>
        <p:spPr>
          <a:xfrm>
            <a:off x="1198536" y="1013202"/>
            <a:ext cx="9360976" cy="5077632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98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002060"/>
                </a:solidFill>
              </a:rPr>
              <a:t>The analysis shows that targeted marketing can be more effective than high-volume calling. Customer history, contact method, campaign frequency, customer group and timing all show useful patterns in subscription results.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2060"/>
                </a:solidFill>
              </a:rPr>
              <a:t>Current subscription rate: </a:t>
            </a:r>
            <a:r>
              <a:rPr lang="en-IN" sz="2400" b="1" dirty="0">
                <a:solidFill>
                  <a:srgbClr val="002060"/>
                </a:solidFill>
              </a:rPr>
              <a:t>11.3%</a:t>
            </a:r>
            <a:endParaRPr lang="en-IN" sz="24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2060"/>
                </a:solidFill>
              </a:rPr>
              <a:t>Focus on </a:t>
            </a:r>
            <a:r>
              <a:rPr lang="en-IN" sz="2400" b="1" dirty="0">
                <a:solidFill>
                  <a:srgbClr val="002060"/>
                </a:solidFill>
              </a:rPr>
              <a:t>higher-potential customers</a:t>
            </a:r>
            <a:endParaRPr lang="en-IN" sz="24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2060"/>
                </a:solidFill>
              </a:rPr>
              <a:t>Reduce unnecessary repeated calls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2060"/>
                </a:solidFill>
              </a:rPr>
              <a:t>Use </a:t>
            </a:r>
            <a:r>
              <a:rPr lang="en-IN" sz="2400" b="1" dirty="0">
                <a:solidFill>
                  <a:srgbClr val="002060"/>
                </a:solidFill>
              </a:rPr>
              <a:t>effective contact channels</a:t>
            </a:r>
            <a:endParaRPr lang="en-IN" sz="24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2060"/>
                </a:solidFill>
              </a:rPr>
              <a:t>Improve campaign timing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2060"/>
                </a:solidFill>
              </a:rPr>
              <a:t>Use data to support future marketing decisions</a:t>
            </a:r>
          </a:p>
          <a:p>
            <a:pPr marL="457200" indent="-457200">
              <a:buFont typeface="+mj-lt"/>
              <a:buAutoNum type="arabicPeriod"/>
            </a:pPr>
            <a:endParaRPr lang="en-IN" sz="2000" b="1" dirty="0">
              <a:solidFill>
                <a:srgbClr val="00206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81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19BD96-BCC0-FE35-5011-3325BD11E45F}"/>
              </a:ext>
            </a:extLst>
          </p:cNvPr>
          <p:cNvSpPr txBox="1"/>
          <p:nvPr/>
        </p:nvSpPr>
        <p:spPr>
          <a:xfrm>
            <a:off x="4091553" y="2774197"/>
            <a:ext cx="36307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</a:rPr>
              <a:t>THANK YOU</a:t>
            </a:r>
            <a:endParaRPr lang="en-IN" sz="5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840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1277</Words>
  <Application>Microsoft Office PowerPoint</Application>
  <PresentationFormat>Widescreen</PresentationFormat>
  <Paragraphs>226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Plus Jakarta Sans</vt:lpstr>
      <vt:lpstr>Arial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Windows</dc:creator>
  <cp:keywords/>
  <dc:description>generated using python-pptx</dc:description>
  <cp:lastModifiedBy>Windows</cp:lastModifiedBy>
  <cp:revision>13</cp:revision>
  <dcterms:created xsi:type="dcterms:W3CDTF">2013-01-27T09:14:16Z</dcterms:created>
  <dcterms:modified xsi:type="dcterms:W3CDTF">2026-10-22T06:17:03Z</dcterms:modified>
  <cp:category/>
</cp:coreProperties>
</file>